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46" d="100"/>
          <a:sy n="46" d="100"/>
        </p:scale>
        <p:origin x="58" y="6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/>
          <p:cNvGrpSpPr/>
          <p:nvPr/>
        </p:nvGrpSpPr>
        <p:grpSpPr>
          <a:xfrm>
            <a:off x="546100" y="-4763"/>
            <a:ext cx="5014912" cy="6862763"/>
            <a:chOff x="2928938" y="-4763"/>
            <a:chExt cx="5014912" cy="6862763"/>
          </a:xfrm>
        </p:grpSpPr>
        <p:sp>
          <p:nvSpPr>
            <p:cNvPr id="22" name="Freeform 6"/>
            <p:cNvSpPr/>
            <p:nvPr/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23" name="Freeform 7"/>
            <p:cNvSpPr/>
            <p:nvPr/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24" name="Freeform 9"/>
            <p:cNvSpPr/>
            <p:nvPr/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25" name="Freeform 10"/>
            <p:cNvSpPr/>
            <p:nvPr/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26" name="Freeform 11"/>
            <p:cNvSpPr/>
            <p:nvPr/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27" name="Freeform 12"/>
            <p:cNvSpPr/>
            <p:nvPr/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928401" y="1380068"/>
            <a:ext cx="8574622" cy="2616199"/>
          </a:xfrm>
        </p:spPr>
        <p:txBody>
          <a:bodyPr anchor="b">
            <a:normAutofit/>
          </a:bodyPr>
          <a:lstStyle>
            <a:lvl1pPr algn="r">
              <a:defRPr sz="60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15377" y="3996267"/>
            <a:ext cx="6987645" cy="1388534"/>
          </a:xfrm>
        </p:spPr>
        <p:txBody>
          <a:bodyPr anchor="t">
            <a:normAutofit/>
          </a:bodyPr>
          <a:lstStyle>
            <a:lvl1pPr marL="0" indent="0" algn="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73426D-76CB-4894-B039-A9115A41930E}" type="datetimeFigureOut">
              <a:rPr lang="en-IN" smtClean="0"/>
              <a:t>11-12-2025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32412" y="5883275"/>
            <a:ext cx="4324044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5B9CF4-1C79-451C-9524-D912DC2D8BD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123030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73426D-76CB-4894-B039-A9115A41930E}" type="datetimeFigureOut">
              <a:rPr lang="en-IN" smtClean="0"/>
              <a:t>11-12-2025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951856" y="5867131"/>
            <a:ext cx="551167" cy="365125"/>
          </a:xfrm>
        </p:spPr>
        <p:txBody>
          <a:bodyPr/>
          <a:lstStyle/>
          <a:p>
            <a:fld id="{0B5B9CF4-1C79-451C-9524-D912DC2D8BD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00116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2279" y="2666999"/>
            <a:ext cx="8930747" cy="2110382"/>
          </a:xfrm>
        </p:spPr>
        <p:txBody>
          <a:bodyPr anchor="b"/>
          <a:lstStyle>
            <a:lvl1pPr algn="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72278" y="4777381"/>
            <a:ext cx="8930748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73426D-76CB-4894-B039-A9115A41930E}" type="datetimeFigureOut">
              <a:rPr lang="en-IN" smtClean="0"/>
              <a:t>11-12-2025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5B9CF4-1C79-451C-9524-D912DC2D8BD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815934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84312" y="2666999"/>
            <a:ext cx="4895055" cy="312420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07967" y="2667000"/>
            <a:ext cx="4895056" cy="3124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73426D-76CB-4894-B039-A9115A41930E}" type="datetimeFigureOut">
              <a:rPr lang="en-IN" smtClean="0"/>
              <a:t>11-12-2025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5B9CF4-1C79-451C-9524-D912DC2D8BD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904719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72179" y="2658533"/>
            <a:ext cx="4607188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84311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880487" y="2667000"/>
            <a:ext cx="462253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07967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73426D-76CB-4894-B039-A9115A41930E}" type="datetimeFigureOut">
              <a:rPr lang="en-IN" smtClean="0"/>
              <a:t>11-12-2025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5B9CF4-1C79-451C-9524-D912DC2D8BD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381930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73426D-76CB-4894-B039-A9115A41930E}" type="datetimeFigureOut">
              <a:rPr lang="en-IN" smtClean="0"/>
              <a:t>11-12-2025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5B9CF4-1C79-451C-9524-D912DC2D8BD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303636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73426D-76CB-4894-B039-A9115A41930E}" type="datetimeFigureOut">
              <a:rPr lang="en-IN" smtClean="0"/>
              <a:t>11-12-2025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5B9CF4-1C79-451C-9524-D912DC2D8BD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996134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1600200"/>
            <a:ext cx="3549121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62033" y="685799"/>
            <a:ext cx="6240990" cy="5105401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2" y="2971800"/>
            <a:ext cx="3549121" cy="18288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73426D-76CB-4894-B039-A9115A41930E}" type="datetimeFigureOut">
              <a:rPr lang="en-IN" smtClean="0"/>
              <a:t>11-12-2025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5B9CF4-1C79-451C-9524-D912DC2D8BD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697525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2724" y="1752599"/>
            <a:ext cx="5426158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94682" y="914400"/>
            <a:ext cx="3280974" cy="4572000"/>
          </a:xfrm>
          <a:prstGeom prst="roundRect">
            <a:avLst>
              <a:gd name="adj" fmla="val 42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2724" y="3124199"/>
            <a:ext cx="5426158" cy="18288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73426D-76CB-4894-B039-A9115A41930E}" type="datetimeFigureOut">
              <a:rPr lang="en-IN" smtClean="0"/>
              <a:t>11-12-2025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5B9CF4-1C79-451C-9524-D912DC2D8BD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21988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4732865"/>
            <a:ext cx="10018711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386012" y="932112"/>
            <a:ext cx="8225944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1" y="5299603"/>
            <a:ext cx="10018711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73426D-76CB-4894-B039-A9115A41930E}" type="datetimeFigureOut">
              <a:rPr lang="en-IN" smtClean="0"/>
              <a:t>11-12-2025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5B9CF4-1C79-451C-9524-D912DC2D8BD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736562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685800"/>
            <a:ext cx="10018711" cy="304800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343400"/>
            <a:ext cx="10018713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73426D-76CB-4894-B039-A9115A41930E}" type="datetimeFigureOut">
              <a:rPr lang="en-IN" smtClean="0"/>
              <a:t>11-12-2025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5B9CF4-1C79-451C-9524-D912DC2D8BD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7379492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436811" y="3428999"/>
            <a:ext cx="8532815" cy="381000"/>
          </a:xfrm>
        </p:spPr>
        <p:txBody>
          <a:bodyPr anchor="ctr">
            <a:normAutofit/>
          </a:bodyPr>
          <a:lstStyle>
            <a:lvl1pPr marL="0" indent="0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1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73426D-76CB-4894-B039-A9115A41930E}" type="datetimeFigureOut">
              <a:rPr lang="en-IN" smtClean="0"/>
              <a:t>11-12-2025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5B9CF4-1C79-451C-9524-D912DC2D8BD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1853806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3308581"/>
            <a:ext cx="10018709" cy="1468800"/>
          </a:xfrm>
        </p:spPr>
        <p:txBody>
          <a:bodyPr anchor="b">
            <a:normAutofit/>
          </a:bodyPr>
          <a:lstStyle>
            <a:lvl1pPr algn="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7381"/>
            <a:ext cx="10018710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73426D-76CB-4894-B039-A9115A41930E}" type="datetimeFigureOut">
              <a:rPr lang="en-IN" smtClean="0"/>
              <a:t>11-12-2025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5B9CF4-1C79-451C-9524-D912DC2D8BD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5626569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3" y="3886200"/>
            <a:ext cx="10018710" cy="889000"/>
          </a:xfrm>
        </p:spPr>
        <p:txBody>
          <a:bodyPr vert="horz" lIns="91440" tIns="45720" rIns="91440" bIns="45720" rtlCol="0" anchor="b">
            <a:normAutofit/>
          </a:bodyPr>
          <a:lstStyle>
            <a:lvl1pPr algn="r"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5200"/>
            <a:ext cx="10018710" cy="1016000"/>
          </a:xfrm>
        </p:spPr>
        <p:txBody>
          <a:bodyPr anchor="t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73426D-76CB-4894-B039-A9115A41930E}" type="datetimeFigureOut">
              <a:rPr lang="en-IN" smtClean="0"/>
              <a:t>11-12-2025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5B9CF4-1C79-451C-9524-D912DC2D8BD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3100438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685800"/>
            <a:ext cx="10018712" cy="2727325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2" y="3505200"/>
            <a:ext cx="10018713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3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73426D-76CB-4894-B039-A9115A41930E}" type="datetimeFigureOut">
              <a:rPr lang="en-IN" smtClean="0"/>
              <a:t>11-12-2025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5B9CF4-1C79-451C-9524-D912DC2D8BD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9896293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73426D-76CB-4894-B039-A9115A41930E}" type="datetimeFigureOut">
              <a:rPr lang="en-IN" smtClean="0"/>
              <a:t>11-12-2025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5B9CF4-1C79-451C-9524-D912DC2D8BD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2121960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732655" y="685800"/>
            <a:ext cx="1770369" cy="5105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84312" y="685800"/>
            <a:ext cx="8019742" cy="51054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73426D-76CB-4894-B039-A9115A41930E}" type="datetimeFigureOut">
              <a:rPr lang="en-IN" smtClean="0"/>
              <a:t>11-12-2025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5B9CF4-1C79-451C-9524-D912DC2D8BD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024922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150812" y="0"/>
            <a:ext cx="2436813" cy="6858001"/>
            <a:chOff x="1320800" y="0"/>
            <a:chExt cx="2436813" cy="6858001"/>
          </a:xfrm>
        </p:grpSpPr>
        <p:sp>
          <p:nvSpPr>
            <p:cNvPr id="8" name="Freeform 6"/>
            <p:cNvSpPr/>
            <p:nvPr/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9" name="Freeform 7"/>
            <p:cNvSpPr/>
            <p:nvPr/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10" name="Freeform 8"/>
            <p:cNvSpPr/>
            <p:nvPr/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11" name="Freeform 9"/>
            <p:cNvSpPr/>
            <p:nvPr/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12" name="Freeform 10"/>
            <p:cNvSpPr/>
            <p:nvPr/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13" name="Freeform 11"/>
            <p:cNvSpPr/>
            <p:nvPr/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0" y="2666999"/>
            <a:ext cx="10018713" cy="31242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1B73426D-76CB-4894-B039-A9115A41930E}" type="datetimeFigureOut">
              <a:rPr lang="en-IN" smtClean="0"/>
              <a:t>11-12-2025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0B5B9CF4-1C79-451C-9524-D912DC2D8BD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75989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  <p:sldLayoutId id="2147483695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706F31-3CD6-2B5C-66DE-AC2040985A4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r>
              <a:rPr lang="en-IN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PSCMR MINDSPRINT 2K25</a:t>
            </a:r>
            <a:br>
              <a:rPr lang="en-IN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 Terminators</a:t>
            </a:r>
            <a:br>
              <a:rPr lang="en-IN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 Virtual Mouse </a:t>
            </a:r>
            <a:br>
              <a:rPr lang="en-IN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4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647604F-0515-9166-AFD4-53EEFDEAC60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515377" y="3996266"/>
            <a:ext cx="6987645" cy="2354657"/>
          </a:xfrm>
        </p:spPr>
        <p:txBody>
          <a:bodyPr>
            <a:normAutofit fontScale="92500" lnSpcReduction="10000"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Team Members :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P. Rupa Sri Malleswari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Md. Aafrin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M. Charishma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College :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Seshadri Rao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Gudlavalleru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Engineering College </a:t>
            </a:r>
          </a:p>
        </p:txBody>
      </p:sp>
    </p:spTree>
    <p:extLst>
      <p:ext uri="{BB962C8B-B14F-4D97-AF65-F5344CB8AC3E}">
        <p14:creationId xmlns:p14="http://schemas.microsoft.com/office/powerpoint/2010/main" val="18492044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C662A9-B8D8-85D6-80FB-BA59F60A9F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1" y="432262"/>
            <a:ext cx="10018713" cy="2006137"/>
          </a:xfrm>
        </p:spPr>
        <p:txBody>
          <a:bodyPr>
            <a:normAutofit/>
          </a:bodyPr>
          <a:lstStyle/>
          <a:p>
            <a:r>
              <a:rPr lang="en-IN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Abstract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31F20D-EB5C-9F1E-5DE9-D7121AE72F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4310" y="1479665"/>
            <a:ext cx="10018713" cy="4311535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multimodal human–computer interaction system using Hand Gestures, Eye Tracking, and Voice Commands.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Control computer mouse without physical contact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Powered by: Hand Tracking + Deep Learning Gesture Model + Eye Tracking + Voice Control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cursor movement, clicks, scroll, drag-drop, and hybrid controls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520246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8585A9-DB98-C8CD-105F-348AB1C27B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542011"/>
          </a:xfrm>
        </p:spPr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356A85-A84C-2110-6318-18AE0F87F7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4310" y="980903"/>
            <a:ext cx="10018713" cy="4810298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Physical mouse devices are unhygienic in shared spaces.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Touch-based devices are not accessible for differently-abled users.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Need for smart, contactless interfaces for modern computing</a:t>
            </a:r>
            <a:r>
              <a:rPr lang="en-US" dirty="0"/>
              <a:t>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385438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7A6C61-EE40-980E-75C3-49924182A3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1" y="315884"/>
            <a:ext cx="10018713" cy="2122515"/>
          </a:xfrm>
        </p:spPr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Solution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C86F2E-9D20-6A51-42CB-EF08D0D758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4310" y="2011681"/>
            <a:ext cx="10018713" cy="3779520"/>
          </a:xfrm>
        </p:spPr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 Virtual Mouse using: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• Hand gesture tracking for cursor &amp; click actions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• AI gesture classifier for accurate recognition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• Eye-tracking for smart scrolling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• Voice commands for system-level operations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844010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0CF9F8-0A9B-7A17-2C63-45DC04F0A7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1" y="266008"/>
            <a:ext cx="10018713" cy="2172392"/>
          </a:xfrm>
        </p:spPr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Features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9C21B6-207E-CA19-3D11-28874C02D6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4310" y="2044931"/>
            <a:ext cx="10018713" cy="3746269"/>
          </a:xfrm>
        </p:spPr>
        <p:txBody>
          <a:bodyPr/>
          <a:lstStyle/>
          <a:p>
            <a:pPr marL="0" indent="0">
              <a:buNone/>
            </a:pPr>
            <a:r>
              <a:rPr lang="en-IN" dirty="0"/>
              <a:t>•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Cursor Movement – Index finger tracking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Left / Double / Right Click – AI gesture model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Scroll Up/Down – Gesture or Eye Tracking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Drag &amp; Drop – Specific gesture detection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Voice Commands – Trigger system events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Eye-based Scroll – Brightness/region detection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4669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8BA119-5DDF-391A-8839-9E87E61E93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1" y="266008"/>
            <a:ext cx="10018713" cy="1845425"/>
          </a:xfrm>
        </p:spPr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 Table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C57C0FBA-CEF6-ACDA-8BE1-CBAA0120171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407628" y="1579563"/>
            <a:ext cx="8172081" cy="48053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70610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D2C143-ED88-7422-6AC3-AEB8BEA0A2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242753"/>
          </a:xfrm>
        </p:spPr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 Stack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8036FE-03D4-6E68-10F2-A441214381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4310" y="1928553"/>
            <a:ext cx="10018713" cy="3862647"/>
          </a:xfrm>
        </p:spPr>
        <p:txBody>
          <a:bodyPr>
            <a:norm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OpenCV</a:t>
            </a:r>
          </a:p>
          <a:p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MediaPipe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Hand Tracking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Deep Learning Gesture Model</a:t>
            </a:r>
          </a:p>
          <a:p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PyAutoGUI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Mouse Actions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Voice Recognition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Eye Tracking module</a:t>
            </a:r>
          </a:p>
        </p:txBody>
      </p:sp>
    </p:spTree>
    <p:extLst>
      <p:ext uri="{BB962C8B-B14F-4D97-AF65-F5344CB8AC3E}">
        <p14:creationId xmlns:p14="http://schemas.microsoft.com/office/powerpoint/2010/main" val="29050184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7A535D-0ABA-6816-CD61-885544D5A9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508759"/>
          </a:xfrm>
        </p:spPr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It Works – Pipeline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31CAC1-0122-C4B5-C357-B5E29940A2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4310" y="1463040"/>
            <a:ext cx="10018713" cy="5270269"/>
          </a:xfrm>
        </p:spPr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Webcam captures real-time frames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HandTracker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detects hand landmarks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GestureAIModel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predicts gesture class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EyeTracker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handles scrolling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VoiceControl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listens and triggers functions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6. GestureController executes mouse actions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470258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B28EAE-3B6F-680C-DDF8-2A3199C542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1" y="-133004"/>
            <a:ext cx="10018713" cy="2111433"/>
          </a:xfrm>
        </p:spPr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Advantages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C1546E-E045-34C3-5441-B25B960731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4310" y="1496291"/>
            <a:ext cx="10018713" cy="4294909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•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Fully touchless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Accessible for differently-abled people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Works on any device with a camera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Real-time, low-latency interaction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Extensible for AR/VR &amp; gesture-based interfaces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8790271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E03293-55E1-E821-9DB9-129D96E3C6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1" y="685801"/>
            <a:ext cx="10018713" cy="1575262"/>
          </a:xfrm>
        </p:spPr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Cases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B06BF2-1E06-D18E-7822-C25FE12396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4310" y="1945179"/>
            <a:ext cx="10018713" cy="3846022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Hospitals (No-contact computing)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Smart Classrooms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Public Kiosks / ATMs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Gaming interfaces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Accessibility technology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5712491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1B7663-86FD-A5AE-9F5C-8E9484A0D5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1" y="685801"/>
            <a:ext cx="10018713" cy="1259378"/>
          </a:xfrm>
        </p:spPr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Enhancements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EFD77C-1A15-0D5C-8BFF-121A07B279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4310" y="2094807"/>
            <a:ext cx="10018713" cy="3696393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3D gesture recognition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Multi-hand gesture control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Fully deep-learning based pipeline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 voice assistant integration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Mobile app version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8040745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C2D42F-B60B-8BC7-9B6E-39011B4A17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0B7B5B-85AE-CDCC-FAAE-B8D91A269B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4310" y="2044931"/>
            <a:ext cx="10018713" cy="3746269"/>
          </a:xfrm>
        </p:spPr>
        <p:txBody>
          <a:bodyPr/>
          <a:lstStyle/>
          <a:p>
            <a:r>
              <a:rPr lang="en-US" dirty="0"/>
              <a:t>AI Virtual Mouse is an innovative multimodal interface combining gestures, eye movement, and voice for futuristic computing.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5815164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Parallax">
  <a:themeElements>
    <a:clrScheme name="Parallax">
      <a:dk1>
        <a:sysClr val="windowText" lastClr="000000"/>
      </a:dk1>
      <a:lt1>
        <a:sysClr val="window" lastClr="FFFFFF"/>
      </a:lt1>
      <a:dk2>
        <a:srgbClr val="212121"/>
      </a:dk2>
      <a:lt2>
        <a:srgbClr val="CDD0D1"/>
      </a:lt2>
      <a:accent1>
        <a:srgbClr val="30ACEC"/>
      </a:accent1>
      <a:accent2>
        <a:srgbClr val="80C34F"/>
      </a:accent2>
      <a:accent3>
        <a:srgbClr val="E29D3E"/>
      </a:accent3>
      <a:accent4>
        <a:srgbClr val="D64A3B"/>
      </a:accent4>
      <a:accent5>
        <a:srgbClr val="D64787"/>
      </a:accent5>
      <a:accent6>
        <a:srgbClr val="A666E1"/>
      </a:accent6>
      <a:hlink>
        <a:srgbClr val="3085ED"/>
      </a:hlink>
      <a:folHlink>
        <a:srgbClr val="82B6F4"/>
      </a:folHlink>
    </a:clrScheme>
    <a:fontScheme name="Parallax">
      <a:maj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arallax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04000"/>
              </a:schemeClr>
            </a:gs>
            <a:gs pos="100000">
              <a:schemeClr val="phClr">
                <a:tint val="8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2000"/>
              </a:schemeClr>
            </a:gs>
            <a:gs pos="100000">
              <a:schemeClr val="phClr">
                <a:shade val="88000"/>
                <a:lumMod val="94000"/>
              </a:schemeClr>
            </a:gs>
          </a:gsLst>
          <a:path path="circle">
            <a:fillToRect l="50000" t="100000" r="100000" b="50000"/>
          </a:path>
        </a:gradFill>
      </a:fillStyleLst>
      <a:lnStyleLst>
        <a:ln w="9525" cap="rnd" cmpd="sng" algn="ctr">
          <a:solidFill>
            <a:schemeClr val="phClr">
              <a:tint val="6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reflection blurRad="12700" stA="26000" endPos="32000" dist="12700" dir="5400000" sy="-100000" rotWithShape="0"/>
          </a:effectLst>
        </a:effectStyle>
        <a:effectStyle>
          <a:effectLst>
            <a:outerShdw blurRad="38100" dist="25400" dir="5400000" rotWithShape="0">
              <a:srgbClr val="000000">
                <a:alpha val="64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254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6000"/>
                <a:satMod val="180000"/>
              </a:schemeClr>
              <a:schemeClr val="phClr">
                <a:tint val="80000"/>
                <a:satMod val="120000"/>
                <a:lumMod val="18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allax" id="{3388167B-A2EB-4685-9635-1831D9AEF8C4}" vid="{4F7A876A-7598-49CA-AFC8-8EDA2551E4A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Parallax</Template>
  <TotalTime>837</TotalTime>
  <Words>360</Words>
  <Application>Microsoft Office PowerPoint</Application>
  <PresentationFormat>Widescreen</PresentationFormat>
  <Paragraphs>65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Corbel</vt:lpstr>
      <vt:lpstr>Times New Roman</vt:lpstr>
      <vt:lpstr>Parallax</vt:lpstr>
      <vt:lpstr>PSCMR MINDSPRINT 2K25  Tech Terminators AI Virtual Mouse  </vt:lpstr>
      <vt:lpstr>Abstract</vt:lpstr>
      <vt:lpstr>Problem Statement</vt:lpstr>
      <vt:lpstr>Proposed Solution</vt:lpstr>
      <vt:lpstr>System Features</vt:lpstr>
      <vt:lpstr>Feature Table</vt:lpstr>
      <vt:lpstr>Tech Stack</vt:lpstr>
      <vt:lpstr>How It Works – Pipeline</vt:lpstr>
      <vt:lpstr>Advantages</vt:lpstr>
      <vt:lpstr>Use Cases</vt:lpstr>
      <vt:lpstr>Future Enhancements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Charishma Mothukuri</dc:creator>
  <cp:lastModifiedBy>Charishma Mothukuri</cp:lastModifiedBy>
  <cp:revision>1</cp:revision>
  <dcterms:created xsi:type="dcterms:W3CDTF">2025-12-11T11:47:32Z</dcterms:created>
  <dcterms:modified xsi:type="dcterms:W3CDTF">2025-12-12T01:45:13Z</dcterms:modified>
</cp:coreProperties>
</file>